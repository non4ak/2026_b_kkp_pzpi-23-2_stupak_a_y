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0" r:id="rId6"/>
    <p:sldId id="260" r:id="rId7"/>
    <p:sldId id="272" r:id="rId8"/>
    <p:sldId id="261" r:id="rId9"/>
    <p:sldId id="262" r:id="rId10"/>
    <p:sldId id="264" r:id="rId11"/>
    <p:sldId id="271" r:id="rId12"/>
    <p:sldId id="265" r:id="rId13"/>
    <p:sldId id="268" r:id="rId14"/>
    <p:sldId id="267" r:id="rId15"/>
  </p:sldIdLst>
  <p:sldSz cx="9144000" cy="5143500" type="screen16x9"/>
  <p:notesSz cx="6858000" cy="9144000"/>
  <p:embeddedFontLst>
    <p:embeddedFont>
      <p:font typeface="Economica" panose="020B0604020202020204" charset="0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Розділ за замовчуванням" id="{2E677AD3-46D7-441A-BB19-7041E793BAD2}">
          <p14:sldIdLst>
            <p14:sldId id="256"/>
            <p14:sldId id="257"/>
            <p14:sldId id="258"/>
            <p14:sldId id="259"/>
            <p14:sldId id="270"/>
            <p14:sldId id="260"/>
            <p14:sldId id="272"/>
            <p14:sldId id="261"/>
            <p14:sldId id="262"/>
            <p14:sldId id="264"/>
            <p14:sldId id="271"/>
            <p14:sldId id="265"/>
            <p14:sldId id="268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>
          <a:extLst>
            <a:ext uri="{FF2B5EF4-FFF2-40B4-BE49-F238E27FC236}">
              <a16:creationId xmlns:a16="http://schemas.microsoft.com/office/drawing/2014/main" id="{375E2E2C-62C6-6E9B-1056-1A1B786C2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>
            <a:extLst>
              <a:ext uri="{FF2B5EF4-FFF2-40B4-BE49-F238E27FC236}">
                <a16:creationId xmlns:a16="http://schemas.microsoft.com/office/drawing/2014/main" id="{D3B6D495-30D7-A59C-7382-E802773253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83" name="Google Shape;83;g2e16b2adad1_0_6:notes">
            <a:extLst>
              <a:ext uri="{FF2B5EF4-FFF2-40B4-BE49-F238E27FC236}">
                <a16:creationId xmlns:a16="http://schemas.microsoft.com/office/drawing/2014/main" id="{01E470D7-4CB2-EE1A-7F9E-2B0F8249B3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28675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>
          <a:extLst>
            <a:ext uri="{FF2B5EF4-FFF2-40B4-BE49-F238E27FC236}">
              <a16:creationId xmlns:a16="http://schemas.microsoft.com/office/drawing/2014/main" id="{BDAF0E2B-E688-19BA-CF32-7A3C71378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>
            <a:extLst>
              <a:ext uri="{FF2B5EF4-FFF2-40B4-BE49-F238E27FC236}">
                <a16:creationId xmlns:a16="http://schemas.microsoft.com/office/drawing/2014/main" id="{CC25E1EE-295A-A494-667F-D35C61BE04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97" name="Google Shape;97;g2e16b2adad1_0_18:notes">
            <a:extLst>
              <a:ext uri="{FF2B5EF4-FFF2-40B4-BE49-F238E27FC236}">
                <a16:creationId xmlns:a16="http://schemas.microsoft.com/office/drawing/2014/main" id="{67B06F5E-BDD2-6CEF-E1CF-4C867C6B4F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073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>
          <a:extLst>
            <a:ext uri="{FF2B5EF4-FFF2-40B4-BE49-F238E27FC236}">
              <a16:creationId xmlns:a16="http://schemas.microsoft.com/office/drawing/2014/main" id="{61A09F8A-6D46-E75C-8411-625C2BDAE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>
            <a:extLst>
              <a:ext uri="{FF2B5EF4-FFF2-40B4-BE49-F238E27FC236}">
                <a16:creationId xmlns:a16="http://schemas.microsoft.com/office/drawing/2014/main" id="{E2A46A7F-FB4F-1CA5-3D58-FE5A0641F2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18" name="Google Shape;118;g2e16b2adad1_0_35:notes">
            <a:extLst>
              <a:ext uri="{FF2B5EF4-FFF2-40B4-BE49-F238E27FC236}">
                <a16:creationId xmlns:a16="http://schemas.microsoft.com/office/drawing/2014/main" id="{4E06AD76-F69E-7769-57CD-026B6660D0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20266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uk-UA"/>
          </a:p>
        </p:txBody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uk-UA"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50" y="821300"/>
            <a:ext cx="4098934" cy="13653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uk-UA" sz="1600" noProof="0" dirty="0"/>
              <a:t>Програмна система для пошуку загублених та знайдених тварин.	</a:t>
            </a:r>
            <a:br>
              <a:rPr lang="uk-UA" sz="1600" noProof="0" dirty="0"/>
            </a:br>
            <a:r>
              <a:rPr lang="uk-UA" sz="1600" noProof="0" dirty="0"/>
              <a:t>Системні сервіси та </a:t>
            </a:r>
            <a:r>
              <a:rPr lang="uk-UA" sz="1600" noProof="0" dirty="0" err="1"/>
              <a:t>геопозиціювання</a:t>
            </a:r>
            <a:r>
              <a:rPr lang="uk-UA" sz="1600" noProof="0" dirty="0"/>
              <a:t> мобільного застосунку. Розгортання системи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981104" y="3164673"/>
            <a:ext cx="4333557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uk-UA" noProof="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noProof="0" dirty="0"/>
              <a:t>Ступак Андрій Юрійович, ПЗПІ-23-2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noProof="0" dirty="0"/>
              <a:t>Керівник:</a:t>
            </a:r>
            <a:r>
              <a:rPr lang="uk-UA" dirty="0"/>
              <a:t> </a:t>
            </a:r>
            <a:r>
              <a:rPr lang="uk-UA" dirty="0" err="1"/>
              <a:t>доц</a:t>
            </a:r>
            <a:r>
              <a:rPr lang="uk-UA" noProof="0" dirty="0"/>
              <a:t>. кафедри ПІ </a:t>
            </a:r>
          </a:p>
          <a:p>
            <a:pPr marL="0" lvl="0" indent="0" algn="r"/>
            <a:r>
              <a:rPr lang="uk-UA" dirty="0"/>
              <a:t>Побіженко Ірина Олександрівна</a:t>
            </a:r>
            <a:endParaRPr lang="uk-UA" noProof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uk-UA" noProof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uk-UA" noProof="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noProof="0" dirty="0" err="1"/>
              <a:t>червнь</a:t>
            </a:r>
            <a:r>
              <a:rPr lang="uk-UA" noProof="0" dirty="0"/>
              <a:t> 2026</a:t>
            </a: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Мета роботи</a:t>
            </a: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001525"/>
            <a:ext cx="8520600" cy="31877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uk-UA" sz="1400" noProof="0" dirty="0"/>
              <a:t>Мета роботи: проєктування створення мобільного застосунку, який дозволяє користувачам публікувати оголошення про загублених і знайдених тварин, переглядати їх на інтерактивній мапі, додавати фотографії та отримувати рекомендації щодо можливих збігів між оголошеннями, а також налаштування розгортання </a:t>
            </a:r>
            <a:r>
              <a:rPr lang="uk-UA" sz="1400" noProof="1"/>
              <a:t>серверних</a:t>
            </a:r>
            <a:r>
              <a:rPr lang="uk-UA" sz="1400" noProof="0" dirty="0"/>
              <a:t> компонентів системи.</a:t>
            </a:r>
          </a:p>
          <a:p>
            <a:pPr marL="0" lvl="0" indent="0">
              <a:spcBef>
                <a:spcPts val="1200"/>
              </a:spcBef>
              <a:buNone/>
            </a:pPr>
            <a:endParaRPr lang="uk-UA" sz="1400" noProof="0" dirty="0"/>
          </a:p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uk-UA" sz="1400" noProof="0" dirty="0">
                <a:latin typeface="Open Sans" panose="020F0502020204030204" pitchFamily="34" charset="0"/>
                <a:ea typeface="Open Sans" panose="020F0502020204030204" pitchFamily="34" charset="0"/>
                <a:cs typeface="Open Sans" panose="020F0502020204030204" pitchFamily="34" charset="0"/>
              </a:rPr>
              <a:t>Актуальність роботи: проблема пошуку загублених домашніх тварин потребує швидкого поширення інформації та зручної взаємодії між власниками й людьми поблизу. Мобільний застосунок з інтерактивною мапою, фотографіями та push-сповіщеннями дозволяє зробити цей процес більш оперативним, організованим і доступним.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uk-UA" noProof="0" dirty="0">
              <a:latin typeface="Economica" panose="020B0604020202020204" charset="0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2</a:t>
            </a:fld>
            <a:endParaRPr lang="uk-UA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323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dirty="0"/>
              <a:t>А</a:t>
            </a:r>
            <a:r>
              <a:rPr lang="uk-UA" sz="3200" noProof="0" dirty="0"/>
              <a:t>наліз існуючих рішень</a:t>
            </a:r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102038"/>
            <a:ext cx="8520600" cy="36581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uk-UA" noProof="0" dirty="0">
                <a:highlight>
                  <a:srgbClr val="FFFFFF"/>
                </a:highlight>
              </a:rPr>
              <a:t>Існуючі рішення: PawBoost, Missing Pets, Pet911</a:t>
            </a:r>
          </a:p>
          <a:p>
            <a:pPr marL="114300" indent="0">
              <a:buNone/>
            </a:pPr>
            <a:endParaRPr lang="uk-UA" noProof="0" dirty="0">
              <a:highlight>
                <a:srgbClr val="FFFFFF"/>
              </a:highlight>
            </a:endParaRPr>
          </a:p>
          <a:p>
            <a:pPr marL="114300" indent="0">
              <a:buNone/>
            </a:pPr>
            <a:r>
              <a:rPr lang="uk-UA" noProof="0" dirty="0">
                <a:highlight>
                  <a:srgbClr val="FFFFFF"/>
                </a:highlight>
              </a:rPr>
              <a:t>Що вони дають: швидке створення оголошень, фото, опис, локальне поширення, інколи – розпізнавання тварин.</a:t>
            </a:r>
          </a:p>
          <a:p>
            <a:pPr marL="114300" indent="0">
              <a:buNone/>
            </a:pPr>
            <a:endParaRPr lang="uk-UA" noProof="0" dirty="0">
              <a:highlight>
                <a:srgbClr val="FFFFFF"/>
              </a:highlight>
            </a:endParaRPr>
          </a:p>
          <a:p>
            <a:pPr marL="114300" indent="0">
              <a:buNone/>
            </a:pPr>
            <a:r>
              <a:rPr lang="uk-UA" noProof="0" dirty="0">
                <a:highlight>
                  <a:srgbClr val="FFFFFF"/>
                </a:highlight>
              </a:rPr>
              <a:t>Основні обмеження: залежність від регіону, активності спільноти або платного просування; слабка інтерактивна мапа; не завжди є зручний мобільний формат.</a:t>
            </a: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3</a:t>
            </a:fld>
            <a:endParaRPr lang="uk-UA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noProof="0" dirty="0"/>
              <a:t>Постановка задачі: мобільний застосунок</a:t>
            </a:r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749184"/>
            <a:ext cx="8520600" cy="3744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uk-UA" noProof="0" dirty="0"/>
              <a:t>Мета: створити мобільний застосунок для пошуку загублених і знайдених тварин.</a:t>
            </a:r>
          </a:p>
          <a:p>
            <a:pPr marL="114300" indent="0">
              <a:buNone/>
            </a:pPr>
            <a:endParaRPr lang="uk-UA" noProof="0" dirty="0"/>
          </a:p>
          <a:p>
            <a:pPr marL="114300" indent="0">
              <a:buNone/>
            </a:pPr>
            <a:r>
              <a:rPr lang="uk-UA" noProof="0" dirty="0"/>
              <a:t>Ключові задачі:</a:t>
            </a:r>
          </a:p>
          <a:p>
            <a:pPr>
              <a:buFont typeface="Open Sans" panose="020B0606030504020204" pitchFamily="34" charset="0"/>
              <a:buChar char="–"/>
            </a:pPr>
            <a:r>
              <a:rPr lang="uk-UA" noProof="0" dirty="0"/>
              <a:t>авторизація та профіль користувача; </a:t>
            </a:r>
          </a:p>
          <a:p>
            <a:pPr>
              <a:buFont typeface="Open Sans" panose="020B0606030504020204" pitchFamily="34" charset="0"/>
              <a:buChar char="–"/>
            </a:pPr>
            <a:r>
              <a:rPr lang="uk-UA" noProof="0" dirty="0"/>
              <a:t>інтерактивна мапа з оголошеннями; </a:t>
            </a:r>
          </a:p>
          <a:p>
            <a:pPr>
              <a:buFont typeface="Open Sans" panose="020B0606030504020204" pitchFamily="34" charset="0"/>
              <a:buChar char="–"/>
            </a:pPr>
            <a:r>
              <a:rPr lang="uk-UA" noProof="0" dirty="0"/>
              <a:t>геолокація та вибір точки на мапі; </a:t>
            </a:r>
          </a:p>
          <a:p>
            <a:pPr>
              <a:buFont typeface="Open Sans" panose="020B0606030504020204" pitchFamily="34" charset="0"/>
              <a:buChar char="–"/>
            </a:pPr>
            <a:r>
              <a:rPr lang="uk-UA" noProof="0" dirty="0"/>
              <a:t>завантаження фотографій; </a:t>
            </a:r>
          </a:p>
          <a:p>
            <a:pPr>
              <a:buFont typeface="Open Sans" panose="020B0606030504020204" pitchFamily="34" charset="0"/>
              <a:buChar char="–"/>
            </a:pPr>
            <a:r>
              <a:rPr lang="uk-UA" noProof="0" dirty="0"/>
              <a:t>результати зіставлення оголошень; </a:t>
            </a:r>
          </a:p>
          <a:p>
            <a:pPr>
              <a:buFont typeface="Open Sans" panose="020B0606030504020204" pitchFamily="34" charset="0"/>
              <a:buChar char="–"/>
            </a:pPr>
            <a:r>
              <a:rPr lang="uk-UA" noProof="0" dirty="0"/>
              <a:t>push-сповіщення про можливі збіги.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lang="uk-UA" noProof="0" dirty="0">
              <a:latin typeface="Economica" panose="020B0604020202020204" charset="0"/>
            </a:endParaRP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4</a:t>
            </a:fld>
            <a:endParaRPr lang="uk-UA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>
          <a:extLst>
            <a:ext uri="{FF2B5EF4-FFF2-40B4-BE49-F238E27FC236}">
              <a16:creationId xmlns:a16="http://schemas.microsoft.com/office/drawing/2014/main" id="{7F5CBF06-7020-B674-C12E-4B8660EEC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>
            <a:extLst>
              <a:ext uri="{FF2B5EF4-FFF2-40B4-BE49-F238E27FC236}">
                <a16:creationId xmlns:a16="http://schemas.microsoft.com/office/drawing/2014/main" id="{C5620E6E-786E-3D7A-E76D-936771E695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noProof="0" dirty="0"/>
              <a:t>Постановка задачі: розгортання системи</a:t>
            </a:r>
          </a:p>
        </p:txBody>
      </p:sp>
      <p:sp>
        <p:nvSpPr>
          <p:cNvPr id="86" name="Google Shape;86;p16">
            <a:extLst>
              <a:ext uri="{FF2B5EF4-FFF2-40B4-BE49-F238E27FC236}">
                <a16:creationId xmlns:a16="http://schemas.microsoft.com/office/drawing/2014/main" id="{31C749F0-4674-50F6-3750-923E29F776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749184"/>
            <a:ext cx="8520600" cy="37443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uk-UA" noProof="0" dirty="0"/>
              <a:t>Мета: розгорнути та налаштувати серверну частину системи </a:t>
            </a:r>
            <a:r>
              <a:rPr lang="en-US" noProof="0" dirty="0"/>
              <a:t>PetFound</a:t>
            </a:r>
            <a:r>
              <a:rPr lang="uk-UA" noProof="0" dirty="0"/>
              <a:t>.</a:t>
            </a:r>
          </a:p>
          <a:p>
            <a:pPr marL="114300" indent="0">
              <a:buNone/>
            </a:pPr>
            <a:endParaRPr lang="uk-UA" noProof="0" dirty="0"/>
          </a:p>
          <a:p>
            <a:pPr marL="114300" indent="0">
              <a:buNone/>
            </a:pPr>
            <a:r>
              <a:rPr lang="uk-UA" noProof="0" dirty="0"/>
              <a:t>Ключові задачі:</a:t>
            </a:r>
          </a:p>
          <a:p>
            <a:pPr>
              <a:buFont typeface="Open Sans" panose="020B0606030504020204" pitchFamily="34" charset="0"/>
              <a:buChar char="–"/>
            </a:pPr>
            <a:r>
              <a:rPr lang="uk-UA" noProof="0" dirty="0"/>
              <a:t>розгортання серверної частини та сервісу порівняння оголошень у хмарному середовищі Azure; </a:t>
            </a:r>
          </a:p>
          <a:p>
            <a:pPr>
              <a:buFont typeface="Open Sans" panose="020B0606030504020204" pitchFamily="34" charset="0"/>
              <a:buChar char="–"/>
            </a:pPr>
            <a:r>
              <a:rPr lang="uk-UA" noProof="0" dirty="0"/>
              <a:t>розгортання реляційної бази даних;</a:t>
            </a:r>
          </a:p>
          <a:p>
            <a:pPr>
              <a:buFont typeface="Open Sans" panose="020B0606030504020204" pitchFamily="34" charset="0"/>
              <a:buChar char="–"/>
            </a:pPr>
            <a:r>
              <a:rPr lang="uk-UA" noProof="0" dirty="0"/>
              <a:t>налаштування хмарного сховища для медіафайлів;</a:t>
            </a:r>
          </a:p>
          <a:p>
            <a:pPr>
              <a:buFont typeface="Open Sans" panose="020B0606030504020204" pitchFamily="34" charset="0"/>
              <a:buChar char="–"/>
            </a:pPr>
            <a:r>
              <a:rPr lang="uk-UA" dirty="0"/>
              <a:t>н</a:t>
            </a:r>
            <a:r>
              <a:rPr lang="uk-UA" noProof="0" dirty="0" err="1"/>
              <a:t>алаштування</a:t>
            </a:r>
            <a:r>
              <a:rPr lang="uk-UA" noProof="0" dirty="0"/>
              <a:t> захищеного зберігання конфігураційних параметрів і ключів доступу.</a:t>
            </a:r>
          </a:p>
        </p:txBody>
      </p:sp>
      <p:pic>
        <p:nvPicPr>
          <p:cNvPr id="87" name="Google Shape;87;p16">
            <a:extLst>
              <a:ext uri="{FF2B5EF4-FFF2-40B4-BE49-F238E27FC236}">
                <a16:creationId xmlns:a16="http://schemas.microsoft.com/office/drawing/2014/main" id="{7A0664F4-C038-BF05-E8B8-708AD1401A9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307A063-2326-1423-9AE9-A322AF1F70B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5</a:t>
            </a:fld>
            <a:endParaRPr lang="uk-UA" noProof="0" dirty="0"/>
          </a:p>
        </p:txBody>
      </p:sp>
    </p:spTree>
    <p:extLst>
      <p:ext uri="{BB962C8B-B14F-4D97-AF65-F5344CB8AC3E}">
        <p14:creationId xmlns:p14="http://schemas.microsoft.com/office/powerpoint/2010/main" val="2631150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Вибір технологій розробки </a:t>
            </a:r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99666" y="697094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uk-UA" noProof="0" dirty="0">
                <a:solidFill>
                  <a:srgbClr val="0D0D0D"/>
                </a:solidFill>
                <a:highlight>
                  <a:srgbClr val="FFFFFF"/>
                </a:highlight>
              </a:rPr>
              <a:t>Інструментарій та технології, використані в роботі:</a:t>
            </a:r>
            <a:endParaRPr lang="uk-UA" noProof="0"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lang="uk-UA" noProof="0" dirty="0">
              <a:latin typeface="Economica" panose="020B0604020202020204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6</a:t>
            </a:fld>
            <a:endParaRPr lang="uk-UA" noProof="0" dirty="0"/>
          </a:p>
        </p:txBody>
      </p:sp>
      <p:pic>
        <p:nvPicPr>
          <p:cNvPr id="2050" name="Picture 2" descr="React Native: Mobile Apps for Android &amp; iOS | iQuest">
            <a:extLst>
              <a:ext uri="{FF2B5EF4-FFF2-40B4-BE49-F238E27FC236}">
                <a16:creationId xmlns:a16="http://schemas.microsoft.com/office/drawing/2014/main" id="{649C9080-1446-F5D8-1CBA-9B47BAEF8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6" y="1874326"/>
            <a:ext cx="1790287" cy="117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Expo Go - Загрузить APK для Android | Aptoide">
            <a:extLst>
              <a:ext uri="{FF2B5EF4-FFF2-40B4-BE49-F238E27FC236}">
                <a16:creationId xmlns:a16="http://schemas.microsoft.com/office/drawing/2014/main" id="{56B2E5BF-08D2-985C-13E0-BD82C25581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421" y="1874326"/>
            <a:ext cx="2057694" cy="100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TypeScript — Википедия">
            <a:extLst>
              <a:ext uri="{FF2B5EF4-FFF2-40B4-BE49-F238E27FC236}">
                <a16:creationId xmlns:a16="http://schemas.microsoft.com/office/drawing/2014/main" id="{F83FD201-B6BE-5E7C-9832-43472E221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9544" y="1871638"/>
            <a:ext cx="1004912" cy="1004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7F64DC4C-338C-5B73-752D-50C5FBFE7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7008" y="3287667"/>
            <a:ext cx="1212574" cy="1092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Firebase | Okoone">
            <a:extLst>
              <a:ext uri="{FF2B5EF4-FFF2-40B4-BE49-F238E27FC236}">
                <a16:creationId xmlns:a16="http://schemas.microsoft.com/office/drawing/2014/main" id="{E5C05BE9-C569-5C88-BE56-A573EDB8EE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090" y="3111523"/>
            <a:ext cx="2358887" cy="144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12" descr="Microsoft Azure — Википедия">
            <a:extLst>
              <a:ext uri="{FF2B5EF4-FFF2-40B4-BE49-F238E27FC236}">
                <a16:creationId xmlns:a16="http://schemas.microsoft.com/office/drawing/2014/main" id="{07ADF737-F407-A46E-8D42-75097F07A5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 noProof="0" dirty="0"/>
          </a:p>
        </p:txBody>
      </p:sp>
      <p:sp>
        <p:nvSpPr>
          <p:cNvPr id="4" name="AutoShape 14" descr="Microsoft Azure — Википедия">
            <a:extLst>
              <a:ext uri="{FF2B5EF4-FFF2-40B4-BE49-F238E27FC236}">
                <a16:creationId xmlns:a16="http://schemas.microsoft.com/office/drawing/2014/main" id="{90CB5AB1-1E9B-A6DB-138B-3B3E8255A3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 noProof="0" dirty="0"/>
          </a:p>
        </p:txBody>
      </p:sp>
      <p:pic>
        <p:nvPicPr>
          <p:cNvPr id="2064" name="Picture 16">
            <a:extLst>
              <a:ext uri="{FF2B5EF4-FFF2-40B4-BE49-F238E27FC236}">
                <a16:creationId xmlns:a16="http://schemas.microsoft.com/office/drawing/2014/main" id="{2E8C39CB-4F89-F09C-8E33-954EE7F1D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153" y="2109057"/>
            <a:ext cx="1856823" cy="53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docker icon Download png">
            <a:extLst>
              <a:ext uri="{FF2B5EF4-FFF2-40B4-BE49-F238E27FC236}">
                <a16:creationId xmlns:a16="http://schemas.microsoft.com/office/drawing/2014/main" id="{F3091C1E-149D-4470-B257-C87F49650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670" y="3287667"/>
            <a:ext cx="1303468" cy="941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>
          <a:extLst>
            <a:ext uri="{FF2B5EF4-FFF2-40B4-BE49-F238E27FC236}">
              <a16:creationId xmlns:a16="http://schemas.microsoft.com/office/drawing/2014/main" id="{C2F35C75-79E5-FC5D-B138-C884E8E3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>
            <a:extLst>
              <a:ext uri="{FF2B5EF4-FFF2-40B4-BE49-F238E27FC236}">
                <a16:creationId xmlns:a16="http://schemas.microsoft.com/office/drawing/2014/main" id="{6677F5C1-EB80-ACC5-128D-BEDB74D3DD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113040"/>
            <a:ext cx="9536714" cy="5817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UML-</a:t>
            </a:r>
            <a:r>
              <a:rPr lang="uk-UA" sz="3000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проєктування</a:t>
            </a:r>
            <a:r>
              <a:rPr lang="en-US" sz="3000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uk-UA" sz="3000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мобільного застосунку</a:t>
            </a:r>
          </a:p>
        </p:txBody>
      </p:sp>
      <p:pic>
        <p:nvPicPr>
          <p:cNvPr id="101" name="Google Shape;101;p18">
            <a:extLst>
              <a:ext uri="{FF2B5EF4-FFF2-40B4-BE49-F238E27FC236}">
                <a16:creationId xmlns:a16="http://schemas.microsoft.com/office/drawing/2014/main" id="{460B9853-4A37-37E3-9521-402EA3D9064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7E481C-5E26-7CCF-36B0-B589145CADE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7</a:t>
            </a:fld>
            <a:endParaRPr lang="uk-UA" noProof="0" dirty="0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4EF42FC6-B478-C67B-D717-5E0F927B3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925" y="894750"/>
            <a:ext cx="4074446" cy="3354000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uk-UA" sz="1600" dirty="0"/>
              <a:t>Діаграма прецедентів відображає частину сценаріїв взаємодії користувача з функціональністю мобільного застосунку </a:t>
            </a:r>
            <a:r>
              <a:rPr lang="en-US" sz="1600" dirty="0"/>
              <a:t>PetFound</a:t>
            </a:r>
            <a:endParaRPr lang="uk-UA" sz="17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C794735-EB78-AC15-183E-E4BFEC83D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9833" y="694790"/>
            <a:ext cx="4644855" cy="4141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772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113040"/>
            <a:ext cx="8520600" cy="5817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Архітектура взаємодії з сервісами</a:t>
            </a:r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009050"/>
            <a:ext cx="8520600" cy="31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>
              <a:lnSpc>
                <a:spcPct val="124000"/>
              </a:lnSpc>
              <a:buFont typeface="Open Sans" panose="020B0606030504020204" pitchFamily="34" charset="0"/>
              <a:buChar char="-"/>
            </a:pPr>
            <a:r>
              <a:rPr lang="uk-UA" sz="1600" noProof="0" dirty="0">
                <a:highlight>
                  <a:srgbClr val="FFFFFF"/>
                </a:highlight>
              </a:rPr>
              <a:t>Ядро застосунку (React Native / Expo): реалізує багатошарову архітектуру, що розділяє шари представлення, бізнес-логіки, управління станом, серверних даних та транспортний рівень.</a:t>
            </a:r>
          </a:p>
          <a:p>
            <a:pPr>
              <a:lnSpc>
                <a:spcPct val="124000"/>
              </a:lnSpc>
              <a:buFont typeface="Open Sans" panose="020B0606030504020204" pitchFamily="34" charset="0"/>
              <a:buChar char="-"/>
            </a:pPr>
            <a:r>
              <a:rPr lang="uk-UA" sz="1600" noProof="0" dirty="0">
                <a:highlight>
                  <a:srgbClr val="FFFFFF"/>
                </a:highlight>
              </a:rPr>
              <a:t>Геопозиціонування: визначає координати користувача, відображає мапу та маркери на ній та конвертує їх в адреси через Google API.</a:t>
            </a:r>
          </a:p>
          <a:p>
            <a:pPr>
              <a:lnSpc>
                <a:spcPct val="124000"/>
              </a:lnSpc>
              <a:buFont typeface="Open Sans" panose="020B0606030504020204" pitchFamily="34" charset="0"/>
              <a:buChar char="-"/>
            </a:pPr>
            <a:r>
              <a:rPr lang="uk-UA" sz="1600" noProof="0" dirty="0">
                <a:highlight>
                  <a:srgbClr val="FFFFFF"/>
                </a:highlight>
              </a:rPr>
              <a:t>Збереження фото : завантажує знімки тварин напряму в Azure Blob Storage через тимчасові SAS-посилання.</a:t>
            </a:r>
          </a:p>
          <a:p>
            <a:pPr>
              <a:lnSpc>
                <a:spcPct val="124000"/>
              </a:lnSpc>
              <a:buFont typeface="Open Sans" panose="020B0606030504020204" pitchFamily="34" charset="0"/>
              <a:buChar char="-"/>
            </a:pPr>
            <a:r>
              <a:rPr lang="uk-UA" sz="1600" noProof="0" dirty="0">
                <a:highlight>
                  <a:srgbClr val="FFFFFF"/>
                </a:highlight>
              </a:rPr>
              <a:t>Push-сповіщення: приймає повідомлення про через Firebase </a:t>
            </a:r>
            <a:r>
              <a:rPr lang="en-GB" sz="1600" noProof="0" dirty="0">
                <a:highlight>
                  <a:srgbClr val="FFFFFF"/>
                </a:highlight>
              </a:rPr>
              <a:t>Cloud Messaging</a:t>
            </a:r>
            <a:r>
              <a:rPr lang="uk-UA" sz="1600" noProof="0" dirty="0">
                <a:highlight>
                  <a:srgbClr val="FFFFFF"/>
                </a:highlight>
              </a:rPr>
              <a:t> і відображає їх у системній шторці через Notifee.</a:t>
            </a:r>
          </a:p>
          <a:p>
            <a:pPr>
              <a:lnSpc>
                <a:spcPct val="124000"/>
              </a:lnSpc>
              <a:buFont typeface="Open Sans" panose="020B0606030504020204" pitchFamily="34" charset="0"/>
              <a:buChar char="-"/>
            </a:pPr>
            <a:r>
              <a:rPr lang="uk-UA" sz="1600" noProof="0" dirty="0">
                <a:highlight>
                  <a:srgbClr val="FFFFFF"/>
                </a:highlight>
              </a:rPr>
              <a:t>Мікросервіс порівняння оголошень: опрацьовує фотографії алгоритмами комп'ютерного зору для автоматичного виявлення збігів між оголошеннями.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lang="uk-UA" noProof="0" dirty="0">
              <a:latin typeface="Economica" panose="020B0604020202020204" charset="0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8</a:t>
            </a:fld>
            <a:endParaRPr lang="uk-UA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188360"/>
            <a:ext cx="8520600" cy="6158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Розгортання системи</a:t>
            </a:r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1" y="1359405"/>
            <a:ext cx="4260300" cy="24246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lvl="0" indent="-285750" algn="l" rtl="0">
              <a:lnSpc>
                <a:spcPct val="150000"/>
              </a:lnSpc>
              <a:buFont typeface="Open Sans" panose="020B0606030504020204" pitchFamily="34" charset="0"/>
              <a:buChar char="-"/>
            </a:pPr>
            <a:r>
              <a:rPr lang="uk-UA" sz="1400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Автоматична збирання та розгортання через GitHub Actions </a:t>
            </a:r>
          </a:p>
          <a:p>
            <a:pPr marL="285750" lvl="0" indent="-285750">
              <a:lnSpc>
                <a:spcPct val="150000"/>
              </a:lnSpc>
              <a:buFont typeface="Open Sans" panose="020B0606030504020204" pitchFamily="34" charset="0"/>
              <a:buChar char="-"/>
            </a:pPr>
            <a:r>
              <a:rPr lang="uk-UA" sz="1400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Розміщення серверного застосунку в Azure App Service</a:t>
            </a:r>
          </a:p>
          <a:p>
            <a:pPr marL="285750" lvl="0" indent="-285750">
              <a:lnSpc>
                <a:spcPct val="150000"/>
              </a:lnSpc>
              <a:buFont typeface="Open Sans" panose="020B0606030504020204" pitchFamily="34" charset="0"/>
              <a:buChar char="-"/>
            </a:pPr>
            <a:r>
              <a:rPr lang="uk-UA" sz="1400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Використання бази даних Neon PostgreSQL</a:t>
            </a:r>
          </a:p>
          <a:p>
            <a:pPr marL="285750" lvl="0" indent="-285750">
              <a:lnSpc>
                <a:spcPct val="150000"/>
              </a:lnSpc>
              <a:buFont typeface="Open Sans" panose="020B0606030504020204" pitchFamily="34" charset="0"/>
              <a:buChar char="-"/>
            </a:pPr>
            <a:r>
              <a:rPr lang="uk-UA" sz="1400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Зберігання ключів і конфігурацій у захищених змінних середовища</a:t>
            </a:r>
          </a:p>
          <a:p>
            <a:pPr marL="0" lvl="0" indent="0" algn="l" rtl="0">
              <a:spcBef>
                <a:spcPts val="1500"/>
              </a:spcBef>
              <a:spcAft>
                <a:spcPts val="1200"/>
              </a:spcAft>
              <a:buNone/>
            </a:pPr>
            <a:endParaRPr lang="uk-UA" noProof="0" dirty="0">
              <a:latin typeface="Economica" panose="020B060402020202020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9</a:t>
            </a:fld>
            <a:endParaRPr lang="uk-UA" noProof="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6BEE839-2D00-F736-84DA-A1AAC7F15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5111" y="587298"/>
            <a:ext cx="4638889" cy="3809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Приклад реалізації</a:t>
            </a:r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841901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Завантаження медіа в </a:t>
            </a:r>
            <a:r>
              <a:rPr lang="en-US" noProof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Azure Blob Storage: </a:t>
            </a:r>
            <a:br>
              <a:rPr lang="en-US" noProof="0" dirty="0">
                <a:latin typeface="Economica" panose="020B0604020202020204" charset="0"/>
              </a:rPr>
            </a:br>
            <a:endParaRPr lang="uk-UA" noProof="0" dirty="0">
              <a:latin typeface="Economica" panose="020B0604020202020204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10</a:t>
            </a:fld>
            <a:endParaRPr lang="uk-UA" noProof="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3F13B3-030E-5B5E-3B35-69128A86C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526" y="1442880"/>
            <a:ext cx="6621526" cy="29582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>
          <a:extLst>
            <a:ext uri="{FF2B5EF4-FFF2-40B4-BE49-F238E27FC236}">
              <a16:creationId xmlns:a16="http://schemas.microsoft.com/office/drawing/2014/main" id="{6A6F8D7E-6F9F-884B-57D6-326D60364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>
            <a:extLst>
              <a:ext uri="{FF2B5EF4-FFF2-40B4-BE49-F238E27FC236}">
                <a16:creationId xmlns:a16="http://schemas.microsoft.com/office/drawing/2014/main" id="{4C0BFD4E-B79A-8995-563D-FF092FBA3F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Приклад реалізації</a:t>
            </a:r>
          </a:p>
        </p:txBody>
      </p:sp>
      <p:sp>
        <p:nvSpPr>
          <p:cNvPr id="121" name="Google Shape;121;p21">
            <a:extLst>
              <a:ext uri="{FF2B5EF4-FFF2-40B4-BE49-F238E27FC236}">
                <a16:creationId xmlns:a16="http://schemas.microsoft.com/office/drawing/2014/main" id="{ED1D0F79-F886-D374-F610-B969E1B89D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718477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Перехоплення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push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-сповіщення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і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перетворення його на локальну нотифікацію через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Notifee</a:t>
            </a:r>
            <a:r>
              <a:rPr lang="uk-UA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endParaRPr lang="uk-UA" noProof="0" dirty="0">
              <a:latin typeface="Economica" panose="020B0604020202020204" charset="0"/>
            </a:endParaRPr>
          </a:p>
        </p:txBody>
      </p:sp>
      <p:pic>
        <p:nvPicPr>
          <p:cNvPr id="122" name="Google Shape;122;p21">
            <a:extLst>
              <a:ext uri="{FF2B5EF4-FFF2-40B4-BE49-F238E27FC236}">
                <a16:creationId xmlns:a16="http://schemas.microsoft.com/office/drawing/2014/main" id="{3A4D0F82-A2BF-7411-20E0-0C4A57B118B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4A569D-9429-9921-1227-497CC399CBD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11</a:t>
            </a:fld>
            <a:endParaRPr lang="uk-UA" noProof="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66AC19-6F7E-0215-6514-853FF1C4B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7687" y="1528615"/>
            <a:ext cx="4948625" cy="3231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721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Інтерфейс користувача </a:t>
            </a: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12</a:t>
            </a:fld>
            <a:endParaRPr lang="uk-UA" noProof="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838FB9-9547-6BC3-DFF2-72B950532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643" y="674748"/>
            <a:ext cx="1807674" cy="374856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BB39DF2-90F8-98DC-5DA1-9AF7B4DDA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476" y="620556"/>
            <a:ext cx="1812333" cy="380276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95F3AAB-DC42-F9DC-5DF1-B4524D308BBC}"/>
              </a:ext>
            </a:extLst>
          </p:cNvPr>
          <p:cNvSpPr txBox="1"/>
          <p:nvPr/>
        </p:nvSpPr>
        <p:spPr>
          <a:xfrm>
            <a:off x="2159643" y="4557133"/>
            <a:ext cx="17445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Інтерактивна мапа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B85416-CA7A-63C7-8B1A-C3C12CA7FB2E}"/>
              </a:ext>
            </a:extLst>
          </p:cNvPr>
          <p:cNvSpPr txBox="1"/>
          <p:nvPr/>
        </p:nvSpPr>
        <p:spPr>
          <a:xfrm>
            <a:off x="5211476" y="4557133"/>
            <a:ext cx="19773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Вибір локації на мапі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-UA" sz="3200" dirty="0"/>
              <a:t>Інтерфейс користувача </a:t>
            </a:r>
            <a:endParaRPr lang="uk-UA" sz="3200" noProof="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13</a:t>
            </a:fld>
            <a:endParaRPr lang="uk-UA" noProof="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955EE21-4FB1-628C-F74B-99CAB9F0E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739" y="735479"/>
            <a:ext cx="1829981" cy="3823070"/>
          </a:xfrm>
          <a:prstGeom prst="rect">
            <a:avLst/>
          </a:prstGeom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911A020F-E5EB-6F9B-61C5-EEC0B38A8587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84" r="2604" b="1031"/>
          <a:stretch>
            <a:fillRect/>
          </a:stretch>
        </p:blipFill>
        <p:spPr bwMode="auto">
          <a:xfrm>
            <a:off x="2229064" y="761096"/>
            <a:ext cx="1792682" cy="384525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37939F-EECF-F49D-1ED8-B7CD56F005CB}"/>
              </a:ext>
            </a:extLst>
          </p:cNvPr>
          <p:cNvSpPr txBox="1"/>
          <p:nvPr/>
        </p:nvSpPr>
        <p:spPr>
          <a:xfrm>
            <a:off x="1920399" y="4620280"/>
            <a:ext cx="2703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Перегляд можливих збігів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BCE2ED-FEB9-86F4-A699-4C3E6018E218}"/>
              </a:ext>
            </a:extLst>
          </p:cNvPr>
          <p:cNvSpPr txBox="1"/>
          <p:nvPr/>
        </p:nvSpPr>
        <p:spPr>
          <a:xfrm>
            <a:off x="5182456" y="4631748"/>
            <a:ext cx="20985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dirty="0"/>
              <a:t>Профіль користувача</a:t>
            </a:r>
          </a:p>
        </p:txBody>
      </p:sp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3200" noProof="0" dirty="0"/>
              <a:t>Підсумки </a:t>
            </a:r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99666" y="906966"/>
            <a:ext cx="8520600" cy="35384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Font typeface="Open Sans" panose="020B0606030504020204" pitchFamily="34" charset="0"/>
              <a:buChar char="–"/>
            </a:pPr>
            <a:r>
              <a:rPr lang="uk-UA" dirty="0"/>
              <a:t>Розроблений мобільний застосунок забезпечує роботу з геолокацією, інтерактивною мапою, вибором координат, завантаженням фотографій і </a:t>
            </a:r>
            <a:r>
              <a:rPr lang="en-US" dirty="0"/>
              <a:t>push-</a:t>
            </a:r>
            <a:r>
              <a:rPr lang="uk-UA" dirty="0"/>
              <a:t>сповіщеннями.</a:t>
            </a:r>
          </a:p>
          <a:p>
            <a:pPr marL="114300" indent="0">
              <a:buNone/>
            </a:pPr>
            <a:endParaRPr lang="uk-UA" dirty="0"/>
          </a:p>
          <a:p>
            <a:pPr>
              <a:buFont typeface="Open Sans" panose="020B0606030504020204" pitchFamily="34" charset="0"/>
              <a:buChar char="–"/>
            </a:pPr>
            <a:r>
              <a:rPr lang="uk-UA" noProof="1"/>
              <a:t>Налаштовано хмарне розгортання серверної частини, бази даних, сховища зображень і сервісу порівняння оголошень</a:t>
            </a:r>
            <a:r>
              <a:rPr lang="uk-UA" dirty="0"/>
              <a:t>.</a:t>
            </a:r>
          </a:p>
          <a:p>
            <a:pPr marL="114300" indent="0">
              <a:buNone/>
            </a:pPr>
            <a:endParaRPr lang="uk-UA" dirty="0"/>
          </a:p>
          <a:p>
            <a:pPr>
              <a:buFont typeface="Open Sans" panose="020B0606030504020204" pitchFamily="34" charset="0"/>
              <a:buChar char="–"/>
            </a:pPr>
            <a:r>
              <a:rPr lang="uk-UA" dirty="0"/>
              <a:t>Подальший розвиток передбачає розширення функцій комунікації, а також масштабування системи.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noProof="0" smtClean="0"/>
              <a:t>14</a:t>
            </a:fld>
            <a:endParaRPr lang="uk-UA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</Template>
  <TotalTime>211</TotalTime>
  <Words>537</Words>
  <Application>Microsoft Office PowerPoint</Application>
  <PresentationFormat>Екран (16:9)</PresentationFormat>
  <Paragraphs>80</Paragraphs>
  <Slides>14</Slides>
  <Notes>14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14</vt:i4>
      </vt:variant>
    </vt:vector>
  </HeadingPairs>
  <TitlesOfParts>
    <vt:vector size="18" baseType="lpstr">
      <vt:lpstr>Economica</vt:lpstr>
      <vt:lpstr>Open Sans</vt:lpstr>
      <vt:lpstr>Arial</vt:lpstr>
      <vt:lpstr>Шаблон презентації кваліфікаційної роботи магістрів</vt:lpstr>
      <vt:lpstr>Програмна система для пошуку загублених та знайдених тварин.  Системні сервіси та геопозиціювання мобільного застосунку. Розгортання системи</vt:lpstr>
      <vt:lpstr>Мета роботи</vt:lpstr>
      <vt:lpstr>Аналіз існуючих рішень</vt:lpstr>
      <vt:lpstr>Постановка задачі: мобільний застосунок</vt:lpstr>
      <vt:lpstr>Постановка задачі: розгортання системи</vt:lpstr>
      <vt:lpstr>Вибір технологій розробки </vt:lpstr>
      <vt:lpstr>UML-проєктування мобільного застосунку</vt:lpstr>
      <vt:lpstr>Архітектура взаємодії з сервісами</vt:lpstr>
      <vt:lpstr>Розгортання системи</vt:lpstr>
      <vt:lpstr>Приклад реалізації</vt:lpstr>
      <vt:lpstr>Приклад реалізації</vt:lpstr>
      <vt:lpstr>Інтерфейс користувача </vt:lpstr>
      <vt:lpstr>Інтерфейс користувача 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Андрій Ступак</dc:creator>
  <cp:lastModifiedBy>Андрій Ступак</cp:lastModifiedBy>
  <cp:revision>9</cp:revision>
  <dcterms:created xsi:type="dcterms:W3CDTF">2026-06-11T14:41:18Z</dcterms:created>
  <dcterms:modified xsi:type="dcterms:W3CDTF">2026-06-13T12:19:13Z</dcterms:modified>
</cp:coreProperties>
</file>